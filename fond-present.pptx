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9" r:id="rId50"/>
    <p:sldId id="298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4.xml"/><Relationship Id="rId50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42062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</a:rPr>
              <a:t>ЦИФРОВОЕ ХРОНОЛОГИЧЕСКОЕ ИЗДАНИЕ 2026</a:t>
            </a:r>
          </a:p>
          <a:p>
            <a:pPr>
              <a:lnSpc>
                <a:spcPct val="140000"/>
              </a:lnSpc>
            </a:pPr>
            <a:r>
              <a:rPr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</a:rPr>
              <a:t>Презентация фонда мобильных устройств · Галерея экспонатов</a:t>
            </a:r>
          </a:p>
          <a:p>
            <a:pPr>
              <a:lnSpc>
                <a:spcPct val="140000"/>
              </a:lnSpc>
            </a:pPr>
            <a:r>
              <a:rPr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</a:rPr>
              <a:t>Инвентарный № PH-2026 · 28 экспонатов · 35 записей хроники · 2007–2026</a:t>
            </a:r>
          </a:p>
          <a:p>
            <a:pPr>
              <a:lnSpc>
                <a:spcPct val="140000"/>
              </a:lnSpc>
            </a:pPr>
            <a:r>
              <a:rPr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</a:rPr>
              <a:t>Россия, Республика Крым, с. Ильинка · Основание фонда: 26.09.2026</a:t>
            </a:r>
          </a:p>
          <a:p>
            <a:pPr>
              <a:lnSpc>
                <a:spcPct val="140000"/>
              </a:lnSpc>
            </a:pPr>
            <a:r>
              <a:rPr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</a:rPr>
              <a:t>Автор: Лысогорский Д. С. · Соавтор: Яндекс Алиса</a:t>
            </a:r>
          </a:p>
          <a:p>
            <a:pPr>
              <a:lnSpc>
                <a:spcPct val="140000"/>
              </a:lnSpc>
            </a:pPr>
            <a:r>
              <a:rPr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</a:rPr>
              <a:t>Музейная редакция · v25.9 · 21.10.2026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6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ФОНД В ЦИФРАХ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5394960" cy="1920240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822959" y="1691640"/>
            <a:ext cx="4846320" cy="14630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</a:rPr>
              <a:t>619 170 ₽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2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514600"/>
            <a:ext cx="4846320" cy="7315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сумма покупок — без отказных заказов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463040"/>
            <a:ext cx="5394960" cy="1920240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6492240" y="1691640"/>
            <a:ext cx="4846320" cy="14630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2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514600"/>
            <a:ext cx="4846320" cy="7315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экспонатов фонда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657600"/>
            <a:ext cx="5394960" cy="1920240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22959" y="3886200"/>
            <a:ext cx="4846320" cy="14630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</a:rPr>
              <a:t>24 767 ₽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2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709160"/>
            <a:ext cx="4846320" cy="7315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средняя цена покупки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3657600"/>
            <a:ext cx="5394960" cy="1920240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4846320" cy="14630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32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5,3 года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709160"/>
            <a:ext cx="4846320" cy="7315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средний возраст экспонатов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6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КАТЕГОРИИ ФОНДА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502920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6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Ушли и прочие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██████████████  14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6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Археология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█████  5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6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На службе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█████  5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6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Ветераны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██  2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6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Подтехники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█  1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6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Альтернативная ветка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█  1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Статус «В пути» упразднён 16.10.2026: № 15 и № 16 — отказ владельца; № 17 закрыт 28.09.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6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ХРОНОЛОГИЯ ПРИХОДОВ · 2007 →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5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2007  █  1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5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2010  ███  3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5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2012  █  1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5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2014  █  1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5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2015  █  1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5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2016  █  1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5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2017  █  1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5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2018  █  1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5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2021  █  1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5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2023  ██  2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5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2024  █  1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5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2025  ██  2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5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2026  ████████████  12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3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Пик владения — 2026: 12 приходов.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В 2026-м также: 7 отказных заказов: № 15, № 16, № 14.1–14.2, № 16.1–16.3 и выход 5 подтехник — фонд стал честнее на 7 записей.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6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РЕКОРДЫ ФОНДА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3035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ЦЕНА</a:t>
            </a:r>
          </a:p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17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iPhone 17 Pro Max — 138 020 ₽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КАМЕРА</a:t>
            </a:r>
          </a:p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17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POCO F9 Ultra — 200 МП (OIS)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ЗАРЯДКА</a:t>
            </a:r>
          </a:p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17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OnePlus 15 (CPH2749) — 120 Вт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ЗАРЯДКА · 2-е место</a:t>
            </a:r>
          </a:p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17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POCO F9 Ultra — 100 Вт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БАТАРЕЯ</a:t>
            </a:r>
          </a:p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17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Xiaomi Pad 7 — 8 850 мАч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ЭКРАН</a:t>
            </a:r>
          </a:p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17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Xiaomi Pad 7 — 11,2, 144 Гц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ПЗУ</a:t>
            </a:r>
          </a:p>
          <a:p>
            <a:pPr algn="l">
              <a:lnSpc>
                <a:spcPct val="140000"/>
              </a:lnSpc>
              <a:spcAft>
                <a:spcPts val="1200"/>
              </a:spcAft>
            </a:pPr>
            <a:r>
              <a:rPr sz="17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ничья: Honor X7c / P901 (OPPO CPH1821EX) / Samsung S25+ / POCO F9 Ultra — по 512 ГБ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Рекорд POCO Pad M1 (12 000 мАч) сошёл с дистанции: заказ № 16 отменён — корона по батарее у Pad 7.</a:t>
            </a:r>
          </a:p>
        </p:txBody>
      </p:sp>
      <p:sp>
        <p:nvSpPr>
          <p:cNvPr id="4" name="TextBox 3"/>
          <p:cNvSpPr txBox="1"/>
          <p:nvPr/>
        </p:nvSpPr>
        <p:spPr>
          <a:xfrm rot="20760000">
            <a:off x="4600000" y="4550000"/>
            <a:ext cx="3600000" cy="850000"/>
          </a:xfrm>
          <a:prstGeom prst="rect">
            <a:avLst/>
          </a:prstGeom>
          <a:solidFill>
            <a:srgbClr val="0D0D0D"/>
          </a:solidFill>
          <a:ln w="19050" cmpd="dbl">
            <a:solidFill>
              <a:srgbClr val="E60000"/>
            </a:solidFill>
          </a:ln>
        </p:spPr>
        <p:txBody>
          <a:bodyPr wrap="none">
            <a:spAutoFit/>
          </a:bodyPr>
          <a:lstStyle/>
          <a:p>
            <a:pPr algn="ctr">
              <a:lnSpc>
                <a:spcPct val="140000"/>
              </a:lnSpc>
            </a:pPr>
            <a:r>
              <a:rPr sz="4400" b="1">
                <a:ln w="22225">
                  <a:solidFill>
                    <a:srgbClr val="FFC83D"/>
                  </a:solidFill>
                </a:ln>
                <a:solidFill>
                  <a:srgbClr val="E60000"/>
                </a:solidFill>
                <a:latin typeface="Georgia"/>
              </a:rPr>
              <a:t>ОТМЕНЁН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6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АНТИРЕЙТИНГ ДЕПРЕССАЦИИ · СОХРАНИЛОСЬ, %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21208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22D3EE"/>
                    </a:gs>
                    <a:gs pos="50000">
                      <a:srgbClr val="A78BFA"/>
                    </a:gs>
                    <a:gs pos="100000">
                      <a:srgbClr val="F472B6"/>
                    </a:gs>
                  </a:gsLst>
                  <a:lin ang="0" scaled="0"/>
                </a:gradFill>
                <a:latin typeface="Arial"/>
              </a:rPr>
              <a:t>iPhone 17 Pro Max  ▓▓▓▓▓▓▓▓▓▓▓▓▓▓▓▓▓▓▓▓ 101%*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4ADE80"/>
                    </a:gs>
                    <a:gs pos="50000">
                      <a:srgbClr val="22D3EE"/>
                    </a:gs>
                    <a:gs pos="100000">
                      <a:srgbClr val="3B82F6"/>
                    </a:gs>
                  </a:gsLst>
                  <a:lin ang="0" scaled="0"/>
                </a:gradFill>
                <a:latin typeface="Arial"/>
              </a:rPr>
              <a:t>Samsung S25+  ▓▓▓▓▓▓▓▓▓▓▓▓▓▓▓▓▓▓▓▓ 100%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BBF24"/>
                    </a:gs>
                    <a:gs pos="50000">
                      <a:srgbClr val="F472B6"/>
                    </a:gs>
                    <a:gs pos="100000">
                      <a:srgbClr val="A78BFA"/>
                    </a:gs>
                  </a:gsLst>
                  <a:lin ang="0" scaled="0"/>
                </a:gradFill>
                <a:latin typeface="Arial"/>
              </a:rPr>
              <a:t>Soyes F8 Pro Max  ▓▓▓▓▓▓▓▓▓▓▓▓▓▓▓▓▓▓ 90%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B7185"/>
                    </a:gs>
                    <a:gs pos="50000">
                      <a:srgbClr val="FBBF24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Arial"/>
              </a:rPr>
              <a:t>Xiaomi Pad 7  ▓▓▓▓▓▓▓▓▓▓▓▓▓▓▓ 79%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22D3EE"/>
                    </a:gs>
                    <a:gs pos="50000">
                      <a:srgbClr val="A78BFA"/>
                    </a:gs>
                    <a:gs pos="100000">
                      <a:srgbClr val="F472B6"/>
                    </a:gs>
                  </a:gsLst>
                  <a:lin ang="0" scaled="0"/>
                </a:gradFill>
                <a:latin typeface="Arial"/>
              </a:rPr>
              <a:t>Redmi Note 13 5G  ▓▓▓▓▓▓▓▓▓▓▓▓▓ 65%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4ADE80"/>
                    </a:gs>
                    <a:gs pos="50000">
                      <a:srgbClr val="22D3EE"/>
                    </a:gs>
                    <a:gs pos="100000">
                      <a:srgbClr val="3B82F6"/>
                    </a:gs>
                  </a:gsLst>
                  <a:lin ang="0" scaled="0"/>
                </a:gradFill>
                <a:latin typeface="Arial"/>
              </a:rPr>
              <a:t>Infinix Hot 11  ▓▓▓▓▓▓▓▓▓▓ 53%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BBF24"/>
                    </a:gs>
                    <a:gs pos="50000">
                      <a:srgbClr val="F472B6"/>
                    </a:gs>
                    <a:gs pos="100000">
                      <a:srgbClr val="A78BFA"/>
                    </a:gs>
                  </a:gsLst>
                  <a:lin ang="0" scaled="0"/>
                </a:gradFill>
                <a:latin typeface="Arial"/>
              </a:rPr>
              <a:t>P901 (OPPO)  ▓▓▓▓▓▓▓▓ 40%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B7185"/>
                    </a:gs>
                    <a:gs pos="50000">
                      <a:srgbClr val="FBBF24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Arial"/>
              </a:rPr>
              <a:t>BQ Strike  ▓▓▓▓▓▓ 34%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22D3EE"/>
                    </a:gs>
                    <a:gs pos="50000">
                      <a:srgbClr val="A78BFA"/>
                    </a:gs>
                    <a:gs pos="100000">
                      <a:srgbClr val="F472B6"/>
                    </a:gs>
                  </a:gsLst>
                  <a:lin ang="0" scaled="0"/>
                </a:gradFill>
                <a:latin typeface="Arial"/>
              </a:rPr>
              <a:t>Sony Xperia Z1  ▓▓▓▓ 20%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4ADE80"/>
                    </a:gs>
                    <a:gs pos="50000">
                      <a:srgbClr val="22D3EE"/>
                    </a:gs>
                    <a:gs pos="100000">
                      <a:srgbClr val="3B82F6"/>
                    </a:gs>
                  </a:gsLst>
                  <a:lin ang="0" scaled="0"/>
                </a:gradFill>
                <a:latin typeface="Arial"/>
              </a:rPr>
              <a:t>BQ-5035 Velvet  ▓▓▓▓ 20%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BBF24"/>
                    </a:gs>
                    <a:gs pos="50000">
                      <a:srgbClr val="F472B6"/>
                    </a:gs>
                    <a:gs pos="100000">
                      <a:srgbClr val="A78BFA"/>
                    </a:gs>
                  </a:gsLst>
                  <a:lin ang="0" scaled="0"/>
                </a:gradFill>
                <a:latin typeface="Arial"/>
              </a:rPr>
              <a:t>Lenovo A328  ▓▓▓ 19%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B7185"/>
                    </a:gs>
                    <a:gs pos="50000">
                      <a:srgbClr val="FBBF24"/>
                    </a:gs>
                    <a:gs pos="100000">
                      <a:srgbClr val="22D3EE"/>
                    </a:gs>
                  </a:gsLst>
                  <a:lin ang="0" scaled="0"/>
                </a:gradFill>
                <a:latin typeface="Arial"/>
              </a:rPr>
              <a:t>Lenovo Tab 2 · убит яростью  ▓▓ 13%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*iPhone 17 Pro Max — дороже покупки: подорожал на WB с момента приобретения.
Honor X7c и Realme C75 — достались даром: потерь нет.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88920" y="2761488"/>
            <a:ext cx="1371600" cy="347472"/>
          </a:xfrm>
          <a:prstGeom prst="rect">
            <a:avLst/>
          </a:prstGeom>
          <a:solidFill>
            <a:srgbClr val="0D0D0D"/>
          </a:solidFill>
          <a:ln w="19050" cmpd="dbl">
            <a:solidFill>
              <a:srgbClr val="E60000"/>
            </a:solidFill>
          </a:ln>
        </p:spPr>
        <p:txBody>
          <a:bodyPr wrap="none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b="1" sz="1100">
                <a:ln w="22225">
                  <a:solidFill>
                    <a:srgbClr val="FFC83D"/>
                  </a:solidFill>
                </a:ln>
                <a:solidFill>
                  <a:srgbClr val="E60000"/>
                </a:solidFill>
                <a:latin typeface="Arial"/>
              </a:rPr>
              <a:t>ОТМЕНЁН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88920" y="1892808"/>
            <a:ext cx="1371600" cy="347472"/>
          </a:xfrm>
          <a:prstGeom prst="rect">
            <a:avLst/>
          </a:prstGeom>
          <a:solidFill>
            <a:srgbClr val="0D0D0D"/>
          </a:solidFill>
          <a:ln w="19050" cmpd="dbl">
            <a:solidFill>
              <a:srgbClr val="E60000"/>
            </a:solidFill>
          </a:ln>
        </p:spPr>
        <p:txBody>
          <a:bodyPr wrap="none">
            <a:spAutoFit/>
          </a:bodyPr>
          <a:lstStyle/>
          <a:p>
            <a:pPr algn="ctr">
              <a:lnSpc>
                <a:spcPct val="140000"/>
              </a:lnSpc>
            </a:pPr>
            <a:r>
              <a:rPr sz="2000" b="1">
                <a:ln w="22225">
                  <a:solidFill>
                    <a:srgbClr val="FFC83D"/>
                  </a:solidFill>
                </a:ln>
                <a:solidFill>
                  <a:srgbClr val="E60000"/>
                </a:solidFill>
                <a:latin typeface="Georgia"/>
              </a:rPr>
              <a:t>ОТМЕНЁН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6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ЛЕГЕНДАРНЫЕ ИСТОРИИ ФОНДА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3035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7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Honor X7c и сделка без кнопки «отменить»</a:t>
            </a: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Первый честный 512 ГБ в основной линии — обменян сослуживцу на заведомо более слабый аппарат. Обратный обмен отклонён.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7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Lenovo Tab 2 и Geometry Dash</a:t>
            </a: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10,1″ планшет любил музыку и ставил паузу каждые несколько секунд. Финал: разбит кулаком. Статус: «Убит яростью».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7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BQ Strike — источник «грязного провода»</a:t>
            </a: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Его провод убил Infinix Hot 11 (№ 5). Урок фонда: дешёвые провода — самая дорогая экономия.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7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S25+ и iPhone — ради съёмного дома</a:t>
            </a: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Samsung S25+ и iPhone 17 Pro Max проданы: фонд вложился в идею, которая живёт своей жизнью.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6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ДЕЙСТВУЮЩИЙ СОСТАВ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3035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НА СЛУЖБЕ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№ 12 · Nokia 6300 (Silver) — кнопочный резерв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№ 14 · POCO F9 Ultra — Король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№ 18 · Philips Xenium X175 — связь на тяжёлые времена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№ 20 · Infinix GT 30 Pro — основной запасной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5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№ 21 · TeXet TM-130 — на службе, в другом городе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ПОДТЕХНИКА НА СЛУЖБЕ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5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№ 14.3 · Xiaomi HyperCharge Power Bank — 25 000 мАч · до 140 Вт с порта · 212 Вт суммарно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АЛЬТЕРНАТИВНАЯ ВЕТКА</a:t>
            </a:r>
          </a:p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5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№ 14A · OnePlus 15 (CPH2749) — 120 Вт, рекорд зарядки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ОТКАЗЫ · 16–17.10.2026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№ 15 · BQ 2430L — отменён в пользу Pad 7 · № 16 · POCO Pad M1 — отменён до получения</a:t>
            </a:r>
          </a:p>
          <a:p>
            <a:pPr algn="l">
              <a:lnSpc>
                <a:spcPct val="140000"/>
              </a:lnSpc>
              <a:spcAft>
                <a:spcPts val="200"/>
              </a:spcAft>
            </a:pPr>
            <a:r>
              <a:rPr sz="1200" b="0" strike="sngStrike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№ 14.1 · HOCO X50 и № 14.2 · Xiaomi 120W — отменены 17.10: дубль комплектного кабеля и блока Короля · 16.1–16.3 — подтехники вышли из фонда · № 19 вычеркнут 16.10: продавец поставил мусор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Nokia 6300 — кнопочный преемник E250. Строки «В пути» в фонде больше нет.</a:t>
            </a:r>
          </a:p>
        </p:txBody>
      </p:sp>
      <p:sp>
        <p:nvSpPr>
          <p:cNvPr id="4" name="TextBox 3"/>
          <p:cNvSpPr txBox="1"/>
          <p:nvPr/>
        </p:nvSpPr>
        <p:spPr>
          <a:xfrm rot="19500000">
            <a:off x="3291840" y="4892040"/>
            <a:ext cx="5120640" cy="1051560"/>
          </a:xfrm>
          <a:prstGeom prst="rect">
            <a:avLst/>
          </a:prstGeom>
          <a:solidFill>
            <a:srgbClr val="0D0D0D"/>
          </a:solidFill>
          <a:ln w="19050" cmpd="dbl">
            <a:solidFill>
              <a:srgbClr val="E60000"/>
            </a:solidFill>
          </a:ln>
        </p:spPr>
        <p:txBody>
          <a:bodyPr wrap="none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b="1" sz="3000">
                <a:ln w="22225">
                  <a:solidFill>
                    <a:srgbClr val="FFC83D"/>
                  </a:solidFill>
                </a:ln>
                <a:solidFill>
                  <a:srgbClr val="E60000"/>
                </a:solidFill>
                <a:latin typeface="Arial"/>
              </a:rPr>
              <a:t>ОТМЕНЁН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6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ВЫЖИВШИЕ И ВЕТЕРАНЫ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3035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7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Infinix Hot 20i (Luna Blue)</a:t>
            </a: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Числился как Hot 12 Pro — опознан 15.10.2026 через GT 30 Pro. Выживший. Ветеран.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7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Infinix Hot 30 Play</a:t>
            </a: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Ветеран 2023 — 10.10.2026: ушёл на заслуженный отдых. «Будущий жёлтый самсунг»: к 2031 ≈ Mini 2.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7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Samsung Galaxy Mini 2 (Yellow)</a:t>
            </a: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Первый смартфон, открыл интернет. Теперь — Артефакт.</a:t>
            </a:r>
          </a:p>
          <a:p>
            <a:pPr algn="l">
              <a:lnSpc>
                <a:spcPct val="140000"/>
              </a:lnSpc>
              <a:spcAft>
                <a:spcPts val="300"/>
              </a:spcAft>
            </a:pPr>
            <a:r>
              <a:rPr sz="17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Samsung SGH-C130 (2007)</a:t>
            </a:r>
          </a:p>
          <a:p>
            <a:pPr algn="l">
              <a:lnSpc>
                <a:spcPct val="140000"/>
              </a:lnSpc>
              <a:spcAft>
                <a:spcPts val="1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Старейший экспонат: 1,5″ CSTN, 800 мАч, 75 г. Доисторическая эра фонда.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6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СТОИМОСТЬ ДНЯ ВЛАДЕНИЯ · ДЕЙСТВУЮЩИЕ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8463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12 · Nokia 6300 (Silver) — 18,69 ₽/день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14 · POCO F9 Ultra — 913,75 ₽/день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18 · Philips Xenium X175 — 24,21 ₽/день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 · Infinix GT 30 Pro — 336,16 ₽/день</a:t>
            </a:r>
          </a:p>
          <a:p>
            <a:pPr algn="l">
              <a:lnSpc>
                <a:spcPct val="140000"/>
              </a:lnSpc>
              <a:spcAft>
                <a:spcPts val="800"/>
              </a:spcAft>
            </a:pPr>
            <a:r>
              <a:rPr sz="15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21 · TeXet TM-130 — 1,69 ₽/день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Оценка: дата прихода ≈ середина года покупки. Точные даты уточняются — пересчитаю до копейки.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6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БАТАРЕЯ VS ГОД МОДЕЛИ · мАч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881360" cy="53949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2007 · Samsung SGH-C130           ███ 800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2010 · Samsung E250               ███ 800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2010 · Nokia 6300                 ███ 860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2012 · Samsung Galaxy Mini 2      █████ 1 300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2013 · Sony Xperia Z1             ████████████ 3 000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2014 · Lenovo A328                ████████ 2 000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2015 · Lenovo Tab 2 A10-70L       ████████████████████████████ 7 000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2016 · BQ Strike                  ████████ 2 000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2017 · BQ-5035 Velvet             ████████ 2 000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2021 · Infinix Hot 11             ████████████████████████ 6 000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2022 · Infinix Hot 20i (X665E)    ████████████████████ 5 000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2023 · P901 (OPPO CPH1821EX)      ████████████████████████ 6 000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2023 · Infinix Hot 30 Play        ████████████████████████ 6 000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2024 · Honor X7c                  █████████████████████ 5 200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2019 · TeXet TM-130               ██ 600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2026 · Samsung S25+               ████████████████████ 4 900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2026 · Soyes F8 Pro Max           ████████ 2 000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2026 · Realme C75                 ████████████████████████ 6 000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2026 · POCO F9 Ultra              █████████████████████████████████ 8 050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2026 · OnePlus 15 (CPH2749)       ██████████████████████████████ 7 300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2026 · Xiaomi Pad 7               ████████████████████████████████████ 8 850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2026 · Redmi Note 13 5G           ████████████████████ 5 000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2026 · Infinix GT 30 Pro          ██████████████████████ 5 500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0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█ ≈ 245 мАч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4630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600"/>
              </a:spcAft>
            </a:pPr>
            <a:r>
              <a:rPr sz="28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АРХЕОЛОГИЯ · ДОИСТОРИЧЕСКАЯ ЭРА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ctr">
              <a:lnSpc>
                <a:spcPct val="140000"/>
              </a:lnSpc>
              <a:spcAft>
                <a:spcPts val="6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5 экспонатов фонда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№ 0a · Samsung SGH-C130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868680"/>
            <a:ext cx="6675120" cy="365760"/>
          </a:xfrm>
          <a:prstGeom prst="rect">
            <a:avLst/>
          </a:prstGeom>
          <a:ln>
            <a:noFill/>
          </a:ln>
          <a:noFill/>
        </p:spPr>
        <p:txBody>
          <a:bodyPr wrap="none" anchor="t"/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Археология · год модели 2007 · экспонат 1 из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4114800" cy="4572000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pic>
        <p:nvPicPr>
          <p:cNvPr id="5" name="Picture 4" descr="1676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674" y="1280160"/>
            <a:ext cx="3433291" cy="4572000"/>
          </a:xfrm>
          <a:prstGeom prst="rect">
            <a:avLst/>
          </a:prstGeom>
          <a:ln>
            <a:solidFill/>
          </a:ln>
        </p:spPr>
      </p:pic>
      <p:sp>
        <p:nvSpPr>
          <p:cNvPr id="6" name="TextBox 5"/>
          <p:cNvSpPr txBox="1"/>
          <p:nvPr/>
        </p:nvSpPr>
        <p:spPr>
          <a:xfrm>
            <a:off x="502920" y="5907024"/>
            <a:ext cx="4114800" cy="2743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Фото с Авито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325880"/>
            <a:ext cx="6766560" cy="2651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Память: 2 МБ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Экран: 1,5 ″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Батарея: 800 мАч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Цена: ~2 300 ₽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Цвет: Синий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072319"/>
            <a:ext cx="6766560" cy="365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История экспоната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4438080"/>
            <a:ext cx="6766560" cy="23774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1,5" CSTN (128×128), 65 536 цветов. Батарея 800 мАч. Вес 75 г. Лёгкий, FM-радио.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№ 0b · Samsung E250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868680"/>
            <a:ext cx="6675120" cy="365760"/>
          </a:xfrm>
          <a:prstGeom prst="rect">
            <a:avLst/>
          </a:prstGeom>
          <a:ln>
            <a:noFill/>
          </a:ln>
          <a:noFill/>
        </p:spPr>
        <p:txBody>
          <a:bodyPr wrap="none" anchor="t"/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Археология · год модели 2010 · экспонат 2 из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4114800" cy="4572000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937760" y="1325880"/>
            <a:ext cx="6766560" cy="2651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Память: 10 МБ + microSD до 2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Экран: 2 ″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Батарея: 800 мАч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Камера: 0,3 МП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CPU: 0,23 ГГц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ОЗУ: 0,016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Цена: ~2 630 ₽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Цвет: Silver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4072319"/>
            <a:ext cx="6766560" cy="365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История экспоната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438080"/>
            <a:ext cx="6766560" cy="23774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2" TFT (128×160), 0,3 МП камера. ARM9 230 МГц. ОЗУ 16 МБ. Батарея 800 мАч. Звук выдвижения — «душа телефона».</a:t>
            </a:r>
          </a:p>
        </p:txBody>
      </p:sp>
      <p:pic>
        <p:nvPicPr>
          <p:cNvPr id="9" name="Picture 8" descr="1678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51101"/>
            <a:ext cx="4114800" cy="3230118"/>
          </a:xfrm>
          <a:prstGeom prst="rect">
            <a:avLst/>
          </a:prstGeom>
          <a:ln w="19050">
            <a:solidFill>
              <a:srgbClr val="C09A4E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5907024"/>
            <a:ext cx="4114800" cy="2743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Фото: Яндекс Картинки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№ 0c · Nokia 6300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868680"/>
            <a:ext cx="6675120" cy="365760"/>
          </a:xfrm>
          <a:prstGeom prst="rect">
            <a:avLst/>
          </a:prstGeom>
          <a:ln>
            <a:noFill/>
          </a:ln>
          <a:noFill/>
        </p:spPr>
        <p:txBody>
          <a:bodyPr wrap="none" anchor="t"/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Археология · год модели 2010 · экспонат 3 из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4114800" cy="4572000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937760" y="1325880"/>
            <a:ext cx="6766560" cy="2651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Память: 7,8 МБ + microSD до 2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Экран: 2 ″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Батарея: 860 мАч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Камера: 2 МП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Цена: ~4 170–5 415 ₽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Цвет: Silver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4072319"/>
            <a:ext cx="6766560" cy="365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История экспоната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438080"/>
            <a:ext cx="6766560" cy="23774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2" TFT (240×320), 2 МП камера. Батарея 860 мАч. Корпус: сталь + пластик. Икона эпохи, вторая как резерв.</a:t>
            </a:r>
          </a:p>
        </p:txBody>
      </p:sp>
      <p:pic>
        <p:nvPicPr>
          <p:cNvPr id="9" name="Picture 8" descr="168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012823"/>
            <a:ext cx="4114800" cy="3106674"/>
          </a:xfrm>
          <a:prstGeom prst="rect">
            <a:avLst/>
          </a:prstGeom>
          <a:ln w="19050">
            <a:solidFill>
              <a:srgbClr val="C9A24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02920" y="5897880"/>
            <a:ext cx="4114800" cy="2743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Фото: Яндекс Картинки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№ 0d · Безымянные кнопочные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868680"/>
            <a:ext cx="6675120" cy="365760"/>
          </a:xfrm>
          <a:prstGeom prst="rect">
            <a:avLst/>
          </a:prstGeom>
          <a:ln>
            <a:noFill/>
          </a:ln>
          <a:noFill/>
        </p:spPr>
        <p:txBody>
          <a:bodyPr wrap="none" anchor="t"/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Археология · год модели 2010 · экспонат 4 из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4114800" cy="4572000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85800" y="3108960"/>
            <a:ext cx="3749039" cy="109728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6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место для фото</a:t>
            </a:r>
          </a:p>
          <a:p>
            <a:pPr algn="ctr">
              <a:lnSpc>
                <a:spcPct val="140000"/>
              </a:lnSpc>
              <a:spcAft>
                <a:spcPts val="6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экспоната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1325880"/>
            <a:ext cx="6766560" cy="2651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Цена: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4072319"/>
            <a:ext cx="6766560" cy="365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История экспоната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438080"/>
            <a:ext cx="6766560" cy="23774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«Серые» аппараты, без точных характеристик.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№ 1 · Samsung Galaxy Mini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868680"/>
            <a:ext cx="6675120" cy="365760"/>
          </a:xfrm>
          <a:prstGeom prst="rect">
            <a:avLst/>
          </a:prstGeom>
          <a:ln>
            <a:noFill/>
          </a:ln>
          <a:noFill/>
        </p:spPr>
        <p:txBody>
          <a:bodyPr wrap="none" anchor="t"/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Археология · год модели 2012 · экспонат 5 из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4114800" cy="4572000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937760" y="1325880"/>
            <a:ext cx="6766560" cy="2651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Память: 4 ГБ + microSD до 32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Экран: 3,27 ″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Батарея: 1300 мАч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Камера: 3 МП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CPU: 0,8 ГГц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ОЗУ: 0,512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Цена: ~8 490–8 990 ₽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Цвет: Yellow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4072319"/>
            <a:ext cx="6766560" cy="365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История экспоната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438080"/>
            <a:ext cx="6766560" cy="23774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3,27" TFT (320×480), 3 МП камера. Qualcomm MSM7227A 800 МГц. ОЗУ 512 МБ. Android 2.3. Батарея 1 300 мАч. Первый смартфон, открыл интернет.</a:t>
            </a:r>
          </a:p>
        </p:txBody>
      </p:sp>
      <p:pic>
        <p:nvPicPr>
          <p:cNvPr id="9" name="Picture 8" descr="168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336863"/>
            <a:ext cx="4114800" cy="2458593"/>
          </a:xfrm>
          <a:prstGeom prst="rect">
            <a:avLst/>
          </a:prstGeom>
          <a:ln w="19050">
            <a:solidFill>
              <a:srgbClr val="C9A227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5907024"/>
            <a:ext cx="4114800" cy="274320"/>
          </a:xfrm>
          <a:prstGeom prst="rect">
            <a:avLst/>
          </a:prstGeom>
          <a:ln>
            <a:noFill/>
          </a:ln>
          <a:noFill/>
        </p:spPr>
        <p:txBody>
          <a:bodyPr wrap="none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</a:rPr>
              <a:t>Фото: Яндекс Картинки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4630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600"/>
              </a:spcAft>
            </a:pPr>
            <a:r>
              <a:rPr sz="28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ВЕТЕРАНЫ И ВЫЖИВШИЕ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ctr">
              <a:lnSpc>
                <a:spcPct val="140000"/>
              </a:lnSpc>
              <a:spcAft>
                <a:spcPts val="6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 экспоната фонда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№ 6 · Infinix Hot 20i (X665E)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868680"/>
            <a:ext cx="6675120" cy="365760"/>
          </a:xfrm>
          <a:prstGeom prst="rect">
            <a:avLst/>
          </a:prstGeom>
          <a:ln>
            <a:noFill/>
          </a:ln>
          <a:noFill/>
        </p:spPr>
        <p:txBody>
          <a:bodyPr wrap="none" anchor="t"/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Ветераны · год модели 2022 · экспонат 6 из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4114800" cy="4572000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937760" y="1325880"/>
            <a:ext cx="6766560" cy="2651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Память: Уточняется (варианты 4/64 · 4/128 · 6/128) + microSD до 512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Экран: 6,6 ″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Батарея: 5000 мАч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Камера: 13 МП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CPU: 2 ГГц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Зарядка: 10 Вт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Цена: 7 000 ₽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Цвет: Luna Blue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4072319"/>
            <a:ext cx="6766560" cy="365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История экспоната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588079"/>
            <a:ext cx="6766560" cy="1156601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6,6" IPS (1612×720), 60 Гц, 500 нит. Helio G25 (8×A53, до 2,0 ГГц, 12 нм). 13 МП (f/1.85) + 2 МП + 0,8 МП AI, фронт. 8 МП со вспышкой. Android 12 (XOS 10.6). Батарея 5 000 мАч, 10 Вт. Micro-USB (OTG), без NFC. Числился как Hot 12 Pro — опознан 15.10.2026 через GT 30 Pro (№ 20). Выживший.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186" y="1280160"/>
            <a:ext cx="2144268" cy="4572000"/>
          </a:xfrm>
          <a:prstGeom prst="rect">
            <a:avLst/>
          </a:prstGeom>
          <a:ln w="19050">
            <a:solidFill>
              <a:srgbClr val="C9A227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5902160"/>
            <a:ext cx="4114800" cy="220000"/>
          </a:xfrm>
          <a:prstGeom prst="rect">
            <a:avLst/>
          </a:prstGeom>
          <a:ln>
            <a:noFill/>
          </a:ln>
          <a:noFill/>
        </p:spPr>
        <p:txBody>
          <a:bodyPr wrap="none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</a:rPr>
              <a:t>Фото: Яндекс Картинки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№ 8 · Infinix Hot 30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868680"/>
            <a:ext cx="6675120" cy="365760"/>
          </a:xfrm>
          <a:prstGeom prst="rect">
            <a:avLst/>
          </a:prstGeom>
          <a:ln>
            <a:noFill/>
          </a:ln>
          <a:noFill/>
        </p:spPr>
        <p:txBody>
          <a:bodyPr wrap="none" anchor="t"/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Ветераны · год модели 2023 · экспонат 7 из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4114800" cy="4572000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937760" y="1325880"/>
            <a:ext cx="6766560" cy="2651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Память: 128 ГБ + microSD до 1 ТБ, ОЗУ 8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Экран: 6,82 ″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Батарея: 6000 мАч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Камера: 16 МП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Зарядка: 18 Вт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ОЗУ: 8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Цена: 11–12 тыс ₽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Цвет: Black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4072319"/>
            <a:ext cx="6766560" cy="365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История экспоната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438080"/>
            <a:ext cx="6766560" cy="23774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6,82" IPS (1640×720), 90 Гц. 16 МП + QVGA, фронт. 8 МП. Helio G37. Android 13. Батарея 6 000 мАч, 18 Вт. USB-C, NFC. «Будущий жёлтый самсунг»: к 2031 ≈ Mini 2.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1280160"/>
            <a:ext cx="3429000" cy="4572000"/>
          </a:xfrm>
          <a:prstGeom prst="rect">
            <a:avLst/>
          </a:prstGeom>
          <a:ln w="19050">
            <a:solidFill>
              <a:srgbClr val="C9A24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02920" y="5897880"/>
            <a:ext cx="4114800" cy="2743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Фото автора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4630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600"/>
              </a:spcAft>
            </a:pPr>
            <a:r>
              <a:rPr sz="28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ДЕЙСТВУЮЩИЕ · НА СЛУЖБЕ · ПОДТЕХНИКА · АЛЬТ. ВЕТКА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ctr">
              <a:lnSpc>
                <a:spcPct val="140000"/>
              </a:lnSpc>
              <a:spcAft>
                <a:spcPts val="6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6 экспонатов фонда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№ 12 · Nokia 6300 (Silver)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868680"/>
            <a:ext cx="6675120" cy="365760"/>
          </a:xfrm>
          <a:prstGeom prst="rect">
            <a:avLst/>
          </a:prstGeom>
          <a:ln>
            <a:noFill/>
          </a:ln>
          <a:noFill/>
        </p:spPr>
        <p:txBody>
          <a:bodyPr wrap="none" anchor="t"/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На службе · год модели 2026 · экспонат 8 из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4114800" cy="4572000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937760" y="1325880"/>
            <a:ext cx="6766560" cy="2651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Память: microSD до 2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Экран: 2 ″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Камера: 2 МП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Цена: 2 000 ₽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Цвет: Silver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4072319"/>
            <a:ext cx="6766560" cy="365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История экспоната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438080"/>
            <a:ext cx="6766560" cy="23774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2" TFT (240×320), 2 МП камера. 1 SIM (micro-SIM). 2G/3G (Tele2 не работает). Гарантия 1 неделя. Реплика, не оригинал HMD. Круг замкнулся.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17843"/>
            <a:ext cx="4114800" cy="2296633"/>
          </a:xfrm>
          <a:prstGeom prst="rect">
            <a:avLst/>
          </a:prstGeom>
          <a:ln w="19050">
            <a:solidFill>
              <a:srgbClr val="C9A24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02920" y="5897880"/>
            <a:ext cx="4114800" cy="2743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Фото автора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№ 14 · POCO F9 Ultra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868680"/>
            <a:ext cx="6675120" cy="365760"/>
          </a:xfrm>
          <a:prstGeom prst="rect">
            <a:avLst/>
          </a:prstGeom>
          <a:ln>
            <a:noFill/>
          </a:ln>
          <a:noFill/>
        </p:spPr>
        <p:txBody>
          <a:bodyPr wrap="none" anchor="t"/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На службе · год модели 2026 · экспонат 9 из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4114800" cy="4572000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937760" y="1325880"/>
            <a:ext cx="6766560" cy="2651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Память: 512 ГБ, UFS 4.1, ОЗУ 12/16 ГБ LPDDR5X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Экран: 6,9 ″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Батарея: 8050 мАч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Камера: 200 МП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Зарядка: 100 Вт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Цена: 97 771 ₽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Цвет: Black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4072319"/>
            <a:ext cx="6766560" cy="365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История экспоната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588079"/>
            <a:ext cx="6766560" cy="1156601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6,9" AMOLED (2608×1200), 185 Гц, до 10 000 нит. 200 МП (OIS) + 50 МП перископ (5×) + 50 МП ширик, фронт. 32 МП. Snapdragon 8 Elite Gen 5. Android 16, HyperOS 3. Батарея 8 050 мАч, 100 Вт проводная, 50 Вт беспроводная. 5G, Wi-Fi 7, Bluetooth 6.0. IP68. Стерео Bose + сабвуфер, Dolby Atmos. Финальный босс.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601" y="1280160"/>
            <a:ext cx="3521438" cy="4572000"/>
          </a:xfrm>
          <a:prstGeom prst="rect">
            <a:avLst/>
          </a:prstGeom>
          <a:ln w="19050">
            <a:solidFill>
              <a:srgbClr val="C9A24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02920" y="5897880"/>
            <a:ext cx="4114800" cy="2743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Фото: карточка товара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№ 14.3 · Xiaomi HyperCharge Power Bank 25000 (212 Вт)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868680"/>
            <a:ext cx="6675120" cy="365760"/>
          </a:xfrm>
          <a:prstGeom prst="rect">
            <a:avLst/>
          </a:prstGeom>
          <a:ln>
            <a:noFill/>
          </a:ln>
          <a:noFill/>
        </p:spPr>
        <p:txBody>
          <a:bodyPr wrap="none" anchor="t"/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Подтехники · год модели 2026 · экспонат 10 из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4114800" cy="4572000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937760" y="1325880"/>
            <a:ext cx="6766560" cy="2651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Память: 25 000 мАч (90,8 Вт·ч), 2×USB-C + USB-A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Цена: 17 963 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4072319"/>
            <a:ext cx="6766560" cy="365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История экспоната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588079"/>
            <a:ext cx="6766560" cy="1156601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Прозрачный корпус, цветной дисплей заряда. До 140 Вт с одного USB-C (PD 3.1), до 212 Вт суммарно на три порта; тянет ноутбуки и смартфоны. Номинальная ёмкость ~14 000 мАч. Единственная подтехника, оставленная владельцем (16.10.2026). Рынок: ~5 990 ₽ (CN-версия) — 11 490 ₽ (GL, BHR9970GL). Цена подтверждена владельцем 16.10.2026: 17 963 ₽ (архивная приписка «4000+» аннулирована).</a:t>
            </a:r>
          </a:p>
        </p:txBody>
      </p:sp>
      <p:pic>
        <p:nvPicPr>
          <p:cNvPr id="9" name="Picture 8" descr="tmp_1689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1280160"/>
            <a:ext cx="3429000" cy="4572000"/>
          </a:xfrm>
          <a:prstGeom prst="rect">
            <a:avLst/>
          </a:prstGeom>
          <a:ln w="19050">
            <a:solidFill>
              <a:srgbClr val="C9A24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5897880"/>
            <a:ext cx="4114800" cy="274320"/>
          </a:xfrm>
          <a:prstGeom prst="rect">
            <a:avLst/>
          </a:prstGeom>
          <a:ln>
            <a:noFill/>
          </a:ln>
          <a:noFill/>
        </p:spPr>
        <p:txBody>
          <a:bodyPr wrap="none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Фото автора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№ 14A · OnePlus 15 (CPH2749)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868680"/>
            <a:ext cx="6675120" cy="365760"/>
          </a:xfrm>
          <a:prstGeom prst="rect">
            <a:avLst/>
          </a:prstGeom>
          <a:ln>
            <a:noFill/>
          </a:ln>
          <a:noFill/>
        </p:spPr>
        <p:txBody>
          <a:bodyPr wrap="none" anchor="t"/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Альтернативная ветка · год модели 2026 · экспонат 11 из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4114800" cy="4572000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937760" y="1325880"/>
            <a:ext cx="6766560" cy="2651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Память: 256 ГБ, ОЗУ 12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Батарея: 7300 мАч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Зарядка: 120 Вт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ОЗУ: 12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Цена: 94 761 ₽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Цвет: Black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4072319"/>
            <a:ext cx="6766560" cy="365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История экспоната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588079"/>
            <a:ext cx="6766560" cy="1156601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«Брат-близнец» Короля по производительности: тот же Snapdragon 8 Elite Gen 5, 12 ГБ ОЗУ. Отличия: 256 ГБ вместо 512 ГБ, OxygenOS 16 вместо HyperOS 3, 7 300 мАч / 120 Вт вместо 8 050 мАч / 100 Вт, eSIM (US-версия). Не заказан — Король (№ 14) уже оплачен и в пути. Резервная ветка: вступила бы в силу только в случае ухода F9 Ultra в мир павших смартфонов.</a:t>
            </a:r>
          </a:p>
        </p:txBody>
      </p:sp>
      <p:pic>
        <p:nvPicPr>
          <p:cNvPr id="9" name="Picture 8" descr="tmp_168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21" y="1280160"/>
            <a:ext cx="4007597" cy="4572000"/>
          </a:xfrm>
          <a:prstGeom prst="rect">
            <a:avLst/>
          </a:prstGeom>
          <a:ln w="19050">
            <a:solidFill>
              <a:srgbClr val="C9A24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5897880"/>
            <a:ext cx="4114800" cy="274320"/>
          </a:xfrm>
          <a:prstGeom prst="rect">
            <a:avLst/>
          </a:prstGeom>
          <a:ln>
            <a:noFill/>
          </a:ln>
          <a:noFill/>
        </p:spPr>
        <p:txBody>
          <a:bodyPr wrap="none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Фото: карточка товара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№ 18 · Philips Xenium X175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868680"/>
            <a:ext cx="6675120" cy="365760"/>
          </a:xfrm>
          <a:prstGeom prst="rect">
            <a:avLst/>
          </a:prstGeom>
          <a:ln>
            <a:noFill/>
          </a:ln>
          <a:noFill/>
        </p:spPr>
        <p:txBody>
          <a:bodyPr wrap="none" anchor="t"/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На службе · год модели 2026 · экспонат 12 из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4114800" cy="4572000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937760" y="1325880"/>
            <a:ext cx="6766560" cy="2651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Цена: 2 590 ₽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Цвет: Black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4072319"/>
            <a:ext cx="6766560" cy="365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История экспоната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588079"/>
            <a:ext cx="6766560" cy="1156601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Кнопочный мобильный телефон. Серия Xenium — традиция длинной автономности Philips. Брат-резерв к Nokia 6300 (№ 12) и наследник отменённого BQ Tank (№ 15).10.10.2026: получен — в один день с GT 30 Pro (№ 20). Включён: на экране 18:38, 10.10.2026, суббота — дата верна. SIM-карты не установлены — Xenium вежливо ждёт приписки.</a:t>
            </a:r>
          </a:p>
        </p:txBody>
      </p:sp>
      <p:pic>
        <p:nvPicPr>
          <p:cNvPr id="9" name="Picture 8" descr="tmp_1497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1280160"/>
            <a:ext cx="3429000" cy="4572000"/>
          </a:xfrm>
          <a:prstGeom prst="rect">
            <a:avLst/>
          </a:prstGeom>
          <a:ln w="19050">
            <a:solidFill>
              <a:srgbClr val="C9A24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5897880"/>
            <a:ext cx="4114800" cy="274320"/>
          </a:xfrm>
          <a:prstGeom prst="rect">
            <a:avLst/>
          </a:prstGeom>
          <a:ln>
            <a:noFill/>
          </a:ln>
          <a:noFill/>
        </p:spPr>
        <p:txBody>
          <a:bodyPr wrap="none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Фото автора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№ 20 · Infinix GT 30 Pro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868680"/>
            <a:ext cx="6675120" cy="365760"/>
          </a:xfrm>
          <a:prstGeom prst="rect">
            <a:avLst/>
          </a:prstGeom>
          <a:ln>
            <a:noFill/>
          </a:ln>
          <a:noFill/>
        </p:spPr>
        <p:txBody>
          <a:bodyPr wrap="none" anchor="t"/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На службе · год модели 2026 · экспонат 13 из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4114800" cy="4572000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937760" y="1325880"/>
            <a:ext cx="6766560" cy="2651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Память: 256 ГБ UFS 4.0, ОЗУ 12 ГБ LPDDR5X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Экран: 6,78 ″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Батарея: 5500 мАч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Камера: 108 МП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CPU: 3,35 ГГц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Зарядка: 45 Вт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ОЗУ: 12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Цена: 35 969 ₽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Цвет: Dark Flare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4072319"/>
            <a:ext cx="6766560" cy="365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История экспоната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588079"/>
            <a:ext cx="6766560" cy="1156601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6,78" AMOLED 1,5K (2720×1224), 144 Гц, 4500 нит. 108 МП + 8 МП ширик, фронт. 13 МП. MediaTek Dimensity 8350 Ultimate (4 нм, 1×A715 3,35 ГГц + 3×A715 3,2 ГГц + 4×A510 2,2 ГГц), Mali-G615 MC6. Android 15, XOS 15. Батарея 5 500 мАч, 45 Вт проводная, 30 Вт беспроводная. 5G, NFC, BT 5.4, IP64. GT-триггеры, LED-подсветка, bypass-зарядка, 3D Vapor Cloud Chamber (5400 мм²), стерео, ИК-порт. 188 г. AnTuTu ~1,3–1,75 млн. Первый Infinix без единого доисторического компонента. Эволюция завершена.10.10.2026: получен — в один день с Philips Xenium X175 (№ 18). Принял присягу: заводской стикер подтверждает Dimensity 8350, 144 Гц AMOLED, триггеры, 256+12 ГБ. Киберклинок материализован</a:t>
            </a:r>
          </a:p>
        </p:txBody>
      </p:sp>
      <p:pic>
        <p:nvPicPr>
          <p:cNvPr id="9" name="Picture 8" descr="tmp_1496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1280160"/>
            <a:ext cx="3429000" cy="4572000"/>
          </a:xfrm>
          <a:prstGeom prst="rect">
            <a:avLst/>
          </a:prstGeom>
          <a:ln w="19050">
            <a:solidFill>
              <a:srgbClr val="C9A24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5897880"/>
            <a:ext cx="4114800" cy="274320"/>
          </a:xfrm>
          <a:prstGeom prst="rect">
            <a:avLst/>
          </a:prstGeom>
          <a:ln>
            <a:noFill/>
          </a:ln>
          <a:noFill/>
        </p:spPr>
        <p:txBody>
          <a:bodyPr wrap="none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Фото автора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14630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  <a:spcAft>
                <a:spcPts val="600"/>
              </a:spcAft>
            </a:pPr>
            <a:r>
              <a:rPr sz="28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УШЛИ И ПРОЧИЕ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931920"/>
            <a:ext cx="10698480" cy="7315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ctr">
              <a:lnSpc>
                <a:spcPct val="140000"/>
              </a:lnSpc>
              <a:spcAft>
                <a:spcPts val="6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14 экспонатов фонда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№ 2 · Lenovo A328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868680"/>
            <a:ext cx="6675120" cy="365760"/>
          </a:xfrm>
          <a:prstGeom prst="rect">
            <a:avLst/>
          </a:prstGeom>
          <a:ln>
            <a:noFill/>
          </a:ln>
          <a:noFill/>
        </p:spPr>
        <p:txBody>
          <a:bodyPr wrap="none" anchor="t"/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Ушли и прочие · год модели 2014 · экспонат 14 из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4114800" cy="4572000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937760" y="1325880"/>
            <a:ext cx="6766560" cy="2651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Память: 1 ГБ ОЗУ, 4 ГБ ПЗУ + microSD до 32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Экран: 4,5 ″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Батарея: 2000 мАч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Камера: 5 МП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CPU: 1,3 ГГц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ОЗУ: 1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Цена: ~4 490 ₽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Цвет: Black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4072319"/>
            <a:ext cx="6766560" cy="365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История экспоната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588079"/>
            <a:ext cx="6766560" cy="1156601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4,5" TFT (854×480). MediaTek MT6582M, 4×1,3 ГГц. Android 4.4. Камеры 5 МП + 2 МП. Батарея 2 000 мАч (съёмная). 132×68,5×11 мм, 140 г. 2 SIM. Опознан по фото владельца. В школе по приколу хотели выкинуть из окна с третьего этажа.</a:t>
            </a:r>
          </a:p>
        </p:txBody>
      </p:sp>
      <p:pic>
        <p:nvPicPr>
          <p:cNvPr id="9" name="Picture 8" descr="tmp_169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4560"/>
            <a:ext cx="4114800" cy="2743200"/>
          </a:xfrm>
          <a:prstGeom prst="rect">
            <a:avLst/>
          </a:prstGeom>
          <a:ln w="19050">
            <a:solidFill>
              <a:srgbClr val="C9A24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5897880"/>
            <a:ext cx="4114800" cy="274320"/>
          </a:xfrm>
          <a:prstGeom prst="rect">
            <a:avLst/>
          </a:prstGeom>
          <a:ln>
            <a:noFill/>
          </a:ln>
          <a:noFill/>
        </p:spPr>
        <p:txBody>
          <a:bodyPr wrap="none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Фото: Яндекс Картинки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№ 2b · Lenovo Tab 2 A10-70L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868680"/>
            <a:ext cx="6675120" cy="365760"/>
          </a:xfrm>
          <a:prstGeom prst="rect">
            <a:avLst/>
          </a:prstGeom>
          <a:ln>
            <a:noFill/>
          </a:ln>
          <a:noFill/>
        </p:spPr>
        <p:txBody>
          <a:bodyPr wrap="none" anchor="t"/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Ушли и прочие · год модели 2015 · экспонат 15 из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4114800" cy="4572000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937760" y="1325880"/>
            <a:ext cx="6766560" cy="2651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Память: 2 ГБ ОЗУ, 16 ГБ ПЗУ + microSD до 64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Экран: 10,1 ″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Батарея: 7000 мАч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ОЗУ: 2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Цена: ~17 990 ₽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Цвет: Pearl White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4072319"/>
            <a:ext cx="6766560" cy="365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История экспоната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588079"/>
            <a:ext cx="6766560" cy="1156601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10,1" IPS (1920×1200). MediaTek MT8732. Android 4.4 → 5.0. Батарея 7000 мАч. 247×171×8,9 мм, 509 г. Любил слушать музыку . Geometry Dash ставил паузу каждые несколько секунд — разбит кулаком/коленом. Модель опознана по фото владельца.</a:t>
            </a:r>
          </a:p>
        </p:txBody>
      </p:sp>
      <p:pic>
        <p:nvPicPr>
          <p:cNvPr id="9" name="Picture 8" descr="1698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430655"/>
            <a:ext cx="4114800" cy="2271009"/>
          </a:xfrm>
          <a:prstGeom prst="rect">
            <a:avLst/>
          </a:prstGeom>
          <a:ln w="19050">
            <a:solidFill>
              <a:srgbClr val="C9A24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5897880"/>
            <a:ext cx="4114800" cy="274320"/>
          </a:xfrm>
          <a:prstGeom prst="rect">
            <a:avLst/>
          </a:prstGeom>
          <a:ln>
            <a:noFill/>
          </a:ln>
          <a:noFill/>
        </p:spPr>
        <p:txBody>
          <a:bodyPr wrap="none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Фото: Яндекс Картинки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</a:rPr>
              <a:t>№ 2c · Sony Xperia Z1</a:t>
            </a: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/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868680"/>
            <a:ext cx="6675120" cy="365760"/>
          </a:xfrm>
          <a:prstGeom prst="rect">
            <a:avLst/>
          </a:prstGeom>
          <a:ln>
            <a:noFill/>
          </a:ln>
          <a:noFill/>
        </p:spPr>
        <p:txBody>
          <a:bodyPr wrap="none" anchor="t"/>
          <a:lstStyle/>
          <a:p>
            <a:pPr>
              <a:lnSpc>
                <a:spcPct val="140000"/>
              </a:lnSpc>
            </a:pPr>
            <a:r>
              <a:rPr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</a:rPr>
              <a:t>Ушли и прочие · год модели 2013 · экспонат 16 из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4114800" cy="4572000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937760" y="1325880"/>
            <a:ext cx="6766560" cy="2651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Память: 16 ГБ ПЗУ + microSD до 64 ГБ, ОЗУ 2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Экран: 5 ″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Батарея: 3000 мАч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Камера: 20,7 МП · CPU: 2,2 ГГц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Цена: дар (отец); старт 2013: ~29 990 ₽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Цвет: Black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4072319"/>
            <a:ext cx="6766560" cy="365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История экспоната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588079"/>
            <a:ext cx="6766560" cy="1156601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5" TFT (1920×1080). Snapdragon 800 (MSM8974), 4×2,2 ГГц. Android 4.2.2 → 5.1.1. Камеры 20,7 МП Exmor RS + 2 МП. Батарея 3000 мАч. IP55/IP58, заглушки портов, кнопка спуска на боку. 146×74×8,5 мм, 171 г. Крупный «SONY» на «лбу» с решёткой динамика. Первоначально опознан как Xperia 1 (J9110) — переприписан 16.10.2026 по памяти владельца: аппарат был задолго до 2019. Смутная память фонда: «экран без логотипа» оказался почерком Z1, а пять дюймов в 2013-м казались лопатой.</a:t>
            </a:r>
          </a:p>
        </p:txBody>
      </p:sp>
      <p:pic>
        <p:nvPicPr>
          <p:cNvPr id="9" name="Picture 8" descr="169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4114800" cy="4114800"/>
          </a:xfrm>
          <a:prstGeom prst="rect">
            <a:avLst/>
          </a:prstGeom>
          <a:ln w="19050">
            <a:solidFill>
              <a:srgbClr val="C9A24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5897880"/>
            <a:ext cx="4114800" cy="274320"/>
          </a:xfrm>
          <a:prstGeom prst="rect">
            <a:avLst/>
          </a:prstGeom>
          <a:ln>
            <a:noFill/>
          </a:ln>
          <a:noFill/>
        </p:spPr>
        <p:txBody>
          <a:bodyPr wrap="none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Фото: Яндекс Картинки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№ 3 · BQ-5035 Velvet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868680"/>
            <a:ext cx="6675120" cy="365760"/>
          </a:xfrm>
          <a:prstGeom prst="rect">
            <a:avLst/>
          </a:prstGeom>
          <a:ln>
            <a:noFill/>
          </a:ln>
          <a:noFill/>
        </p:spPr>
        <p:txBody>
          <a:bodyPr wrap="none" anchor="t"/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Ушли и прочие · год модели 2017 · экспонат 17 из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4114800" cy="4572000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937760" y="1325880"/>
            <a:ext cx="6766560" cy="2651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Память: 8 ГБ + microSD до 64 ГБ, ОЗУ 1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Экран: 5 ″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Батарея: 2000 мАч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Камера: 8 МП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CPU: 1,3 ГГц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ОЗУ: 1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Цена: 2 500 ₽ (покупка); ~4 190 ₽ (старт продаж)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Цвет: Gold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4072319"/>
            <a:ext cx="6766560" cy="365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История экспоната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588079"/>
            <a:ext cx="6766560" cy="1156601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5" IPS (854×480), 8 МП + 5 МП камеры. MediaTek MT6580M 1,3 ГГц. Android 7.0. Батарея 2 000 мАч — сдулась к прим. 2022. Разряжался на 30–40% за 30–40 минут поездки. Год выпуска подтверждён: сентябрь 2017.</a:t>
            </a:r>
          </a:p>
        </p:txBody>
      </p:sp>
      <p:pic>
        <p:nvPicPr>
          <p:cNvPr id="9" name="Picture 8" descr="1697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4114800" cy="4114800"/>
          </a:xfrm>
          <a:prstGeom prst="rect">
            <a:avLst/>
          </a:prstGeom>
          <a:ln w="19050">
            <a:solidFill>
              <a:srgbClr val="C9A24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5897880"/>
            <a:ext cx="4114800" cy="2743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Фото: Яндекс Картинки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№ 4 · BQ Strike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868680"/>
            <a:ext cx="6675120" cy="365760"/>
          </a:xfrm>
          <a:prstGeom prst="rect">
            <a:avLst/>
          </a:prstGeom>
          <a:ln>
            <a:noFill/>
          </a:ln>
          <a:noFill/>
        </p:spPr>
        <p:txBody>
          <a:bodyPr wrap="none" anchor="t"/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Ушли и прочие · год модели 2016 · экспонат 18 из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4114800" cy="4572000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937760" y="1325880"/>
            <a:ext cx="6766560" cy="2651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Память: 8 ГБ + microSD до 32 ГБ, ОЗУ 1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Экран: 5 ″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Батарея: 2000 мАч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Камера: 13 МП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CPU: 1,3 ГГц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ОЗУ: 1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Цена: ~2 500 ₽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Цвет: Синий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4072319"/>
            <a:ext cx="6766560" cy="365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История экспоната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438080"/>
            <a:ext cx="6766560" cy="23774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5" IPS (1280×720), 13 МП + 5 МП камеры. MediaTek MT6580 1,3 ГГц. Android 6.0. Металлический корпус. Батарея 2 000 мАч. Провод убил Infinix.</a:t>
            </a:r>
          </a:p>
        </p:txBody>
      </p:sp>
      <p:pic>
        <p:nvPicPr>
          <p:cNvPr id="9" name="Picture 8" descr="17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4114800" cy="4114800"/>
          </a:xfrm>
          <a:prstGeom prst="rect">
            <a:avLst/>
          </a:prstGeom>
          <a:ln w="19050">
            <a:solidFill>
              <a:srgbClr val="C9A24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5897880"/>
            <a:ext cx="4114800" cy="2743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Фото: Яндекс Картинки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№ 5 · Infinix Hot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868680"/>
            <a:ext cx="6675120" cy="365760"/>
          </a:xfrm>
          <a:prstGeom prst="rect">
            <a:avLst/>
          </a:prstGeom>
          <a:ln>
            <a:noFill/>
          </a:ln>
          <a:noFill/>
        </p:spPr>
        <p:txBody>
          <a:bodyPr wrap="none" anchor="t"/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Ушли и прочие · год модели 2021 · экспонат 24 из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4114800" cy="4572000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937760" y="1325880"/>
            <a:ext cx="6766560" cy="2651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Память: 128 ГБ + microSD до 512 ГБ, ОЗУ 4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Экран: 6,82 ″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Батарея: 6000 мАч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Камера: 50 МП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ОЗУ: 4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Цена: 11 000 ₽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Цвет: Polar Black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4072319"/>
            <a:ext cx="6766560" cy="365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История экспоната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438080"/>
            <a:ext cx="6766560" cy="23774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6,82" IPS (720×1640), 90 Гц. 50 МП + 2 МП, фронт. 8 МП. Helio G37. Android 11. Батарея 6 000 мАч. Micro-USB. + смарт-часы (палёные) и наушники.</a:t>
            </a:r>
          </a:p>
        </p:txBody>
      </p:sp>
      <p:pic>
        <p:nvPicPr>
          <p:cNvPr id="9" name="Picture 8" descr="170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8031" y="1508760"/>
            <a:ext cx="1884578" cy="4114800"/>
          </a:xfrm>
          <a:prstGeom prst="rect">
            <a:avLst/>
          </a:prstGeom>
          <a:ln w="19050">
            <a:solidFill>
              <a:srgbClr val="C9A24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2920" y="5897880"/>
            <a:ext cx="4114800" cy="2743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Фото: Яндекс Картинки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№ 6b · Honor X7c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868680"/>
            <a:ext cx="6675120" cy="365760"/>
          </a:xfrm>
          <a:prstGeom prst="rect">
            <a:avLst/>
          </a:prstGeom>
          <a:ln>
            <a:noFill/>
          </a:ln>
          <a:noFill/>
        </p:spPr>
        <p:txBody>
          <a:bodyPr wrap="none" anchor="t"/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Ушли и прочие · год модели 2024 · экспонат 20 из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4114800" cy="4572000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937760" y="1325880"/>
            <a:ext cx="6766560" cy="2651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Память: 512 ГБ + microSD, ОЗУ 8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Экран: 6,77 ″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Батарея: 5200 мАч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Камера: 108 МП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CPU: 2,8 ГГц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Зарядка: 35 Вт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ОЗУ: 8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Цена: покупка (цена не зафиксирована)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Цвет: Forest Green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4072319"/>
            <a:ext cx="6766560" cy="365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История экспоната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588079"/>
            <a:ext cx="6766560" cy="1156601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6,77" IPS HD+ (1610×720, 261 ppi, 850 нит), заявленные 120 Гц. 108 МП + 2 МП, фронт. 8 МП. Snapdragon 685 (SM6225, 4×A73 2,8 ГГц + 4×A53 1,9 ГГц, 6 нм), Adreno 610, ~300 000+ AnTuTu v10. Android 14, MagicOS 8. Батарея 5200 мАч, 35 Вт SuperCharge (~1 ч 15 мин до 100%). IP64 + сертифицированная ударопрочность, NFC, стерео, ИК-порт, 3,5 мм, microSD, USB-C 2.0 с OTG. 4G (без 5G), Wi-Fi 5, BT 5.0. Зелёная версия: 8,24 мм, 196 г, «кожаная» спинка. Куплен осознанно, обменян по глупости сослуживцу на аппарат заведомо более слабый: проверить состояние сразу не удалось, обратный обмен был отклонён. Первый Honor в фонде (не считая № 7, карточка которого продавалась под видом Honor 200). Первый честный 512 ГБ в основной линии. Единственная сделка фонда без кнопки «отменить».</a:t>
            </a:r>
          </a:p>
        </p:txBody>
      </p:sp>
      <p:pic>
        <p:nvPicPr>
          <p:cNvPr id="9" name="Picture 8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4114800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897880"/>
            <a:ext cx="4114800" cy="27432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Фото: Яндекс Картинки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№ 7 · P901 (OPPO CPH1821EX)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868680"/>
            <a:ext cx="6675120" cy="365760"/>
          </a:xfrm>
          <a:prstGeom prst="rect">
            <a:avLst/>
          </a:prstGeom>
          <a:ln>
            <a:noFill/>
          </a:ln>
          <a:noFill/>
        </p:spPr>
        <p:txBody>
          <a:bodyPr wrap="none" anchor="t"/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Ушли и прочие · год модели 2023 · экспонат 21 из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4114800" cy="4572000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937760" y="1325880"/>
            <a:ext cx="6766560" cy="2651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Память: 512 ГБ (498 ГБ свободно, настоящие), ОЗУ 4 ГБ LPDDR4X (в прошивке — 12 ГБ, завышено)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Экран: 6,2 ″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Батарея: 6000 мАч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CPU: 2 ГГц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ОЗУ: 4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Цена: 6 818 ₽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Цвет: White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4072319"/>
            <a:ext cx="6766560" cy="365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История экспоната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588079"/>
            <a:ext cx="6766560" cy="1156601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Контрафакт на базе OPPO F7 (CPH1821EX). Реальное железо: MediaTek Helio P60 (MT6771, 4×A73 + 4×A53, 2,0 ГГц, 12 нм), GPU Mali-G72 MP3, 4 ГБ LPDDR4X, 6,2" IPS 2280×1080. Прошивка-обманка: Android 10 + ColorOS V7.1 поверх Android 8.1, ОЗУ завышено до 12 ГБ. Накопитель 512 ГБ — настоящий. Батарея 6 000 мАч (оригинал Oppo F7 — 3 400 мАч, заменена). SIM-карта отсутствует. Нет GMS-сертификации — банки и Госуслуги не работают. Приложения вылетают. Осознанное изгнание, но жив. Настоящее имя раскрыто через ВК: OPPO CPH1821EX.</a:t>
            </a:r>
          </a:p>
        </p:txBody>
      </p:sp>
      <p:pic>
        <p:nvPicPr>
          <p:cNvPr id="9" name="Picture 8" descr="IMG_20261016_150709_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1508760"/>
            <a:ext cx="3086100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794680"/>
            <a:ext cx="4114800" cy="230000"/>
          </a:xfrm>
          <a:prstGeom prst="rect">
            <a:avLst/>
          </a:prstGeom>
          <a:ln>
            <a:noFill/>
          </a:ln>
          <a:noFill/>
        </p:spPr>
        <p:txBody>
          <a:bodyPr wrap="none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Фото автора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№ 9 · Samsung S25+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868680"/>
            <a:ext cx="6675120" cy="365760"/>
          </a:xfrm>
          <a:prstGeom prst="rect">
            <a:avLst/>
          </a:prstGeom>
          <a:ln>
            <a:noFill/>
          </a:ln>
          <a:noFill/>
        </p:spPr>
        <p:txBody>
          <a:bodyPr wrap="none" anchor="t"/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Ушли и прочие · год модели 2026 · экспонат 22 из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4114800" cy="4572000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937760" y="1325880"/>
            <a:ext cx="6766560" cy="2651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Память: 512 ГБ, ОЗУ 12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Экран: 6,7 ″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Батарея: 4900 мАч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Камера: 50 МП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Зарядка: 25 Вт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ОЗУ: 12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Цена: 90 000 ₽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Цвет: Silver Shadow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4072319"/>
            <a:ext cx="6766560" cy="365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История экспоната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588079"/>
            <a:ext cx="6766560" cy="1156601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6,7" Dynamic AMOLED 2X (QHD+, 1–120 Гц), 2600 нит. 50 МП (OIS) + 12 МП + 10 МП (3×), фронт. 12 МП. Snapdragon 8 Elite for Galaxy. Android 15 + One UI 7. Батарея 4 900 мАч, 25 Вт. IP68, Gorilla Glass Victus 2. Ни копейки не ушло на дело. Параллельная ветка.</a:t>
            </a:r>
          </a:p>
        </p:txBody>
      </p:sp>
      <p:pic>
        <p:nvPicPr>
          <p:cNvPr id="9" name="Picture 8" descr="17046_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520" y="2463627"/>
            <a:ext cx="1653800" cy="2205066"/>
          </a:xfrm>
          <a:prstGeom prst="rect">
            <a:avLst/>
          </a:prstGeom>
        </p:spPr>
      </p:pic>
      <p:pic>
        <p:nvPicPr>
          <p:cNvPr id="10" name="Picture 9" descr="17048_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320" y="2463627"/>
            <a:ext cx="1653800" cy="220506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794680"/>
            <a:ext cx="4114800" cy="230000"/>
          </a:xfrm>
          <a:prstGeom prst="rect">
            <a:avLst/>
          </a:prstGeom>
          <a:ln>
            <a:noFill/>
          </a:ln>
          <a:noFill/>
        </p:spPr>
        <p:txBody>
          <a:bodyPr wrap="none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Фото автора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№ 10 · iPhone 17 Pro Max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868680"/>
            <a:ext cx="6675120" cy="365760"/>
          </a:xfrm>
          <a:prstGeom prst="rect">
            <a:avLst/>
          </a:prstGeom>
          <a:ln>
            <a:noFill/>
          </a:ln>
          <a:noFill/>
        </p:spPr>
        <p:txBody>
          <a:bodyPr wrap="none" anchor="t"/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Ушли и прочие · год модели 2026 · экспонат 23 из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4114800" cy="4572000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937760" y="1325880"/>
            <a:ext cx="6766560" cy="2651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Память: 256 ГБ, ОЗУ 12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ОЗУ: 12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Цена: 138 020 ₽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Цвет: Cosmic Orange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4072319"/>
            <a:ext cx="6766560" cy="365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История экспоната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438080"/>
            <a:ext cx="6766560" cy="23774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iOS 26, nano-SIM + eSIM. IP68, гарантия 12 мес. Без предустановленного российского ПО. Ни копейки не ушло на дело. Параллельная ветка.</a:t>
            </a:r>
          </a:p>
        </p:txBody>
      </p:sp>
      <p:pic>
        <p:nvPicPr>
          <p:cNvPr id="9" name="Picture 8" descr="17085_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21992"/>
            <a:ext cx="3657600" cy="36883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794680"/>
            <a:ext cx="4114800" cy="230000"/>
          </a:xfrm>
          <a:prstGeom prst="rect">
            <a:avLst/>
          </a:prstGeom>
          <a:ln>
            <a:noFill/>
          </a:ln>
          <a:noFill/>
        </p:spPr>
        <p:txBody>
          <a:bodyPr wrap="none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Фото: карточка товара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№ 11 · Soyes F8 Pro Max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868680"/>
            <a:ext cx="6675120" cy="365760"/>
          </a:xfrm>
          <a:prstGeom prst="rect">
            <a:avLst/>
          </a:prstGeom>
          <a:ln>
            <a:noFill/>
          </a:ln>
          <a:noFill/>
        </p:spPr>
        <p:txBody>
          <a:bodyPr wrap="none" anchor="t"/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Ушли и прочие · год модели 2026 · экспонат 25 из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4114800" cy="4572000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937760" y="1325880"/>
            <a:ext cx="6766560" cy="2651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Память: 16 ГБ + microSD до 64 ГБ, ОЗУ 1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Экран: 3 ″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Батарея: 2000 мАч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Камера: 2 МП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CPU: 1,3 ГГц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ОЗУ: 1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Цена: 2 500 ₽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Цвет: Black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4072319"/>
            <a:ext cx="6766560" cy="365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История экспоната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438080"/>
            <a:ext cx="6766560" cy="23774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3,0" IPS (480×854). 2 МП + 0,3 МП камеры. MTK6580M 1,3 ГГц. Android 8.1. Батарея 2 000 мАч. Размеры: 89,65×45,8×12 мм. Обмен.</a:t>
            </a:r>
          </a:p>
        </p:txBody>
      </p:sp>
      <p:pic>
        <p:nvPicPr>
          <p:cNvPr id="9" name="Picture 8" descr="17093_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685" y="1508760"/>
            <a:ext cx="3295269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794680"/>
            <a:ext cx="4114800" cy="230000"/>
          </a:xfrm>
          <a:prstGeom prst="rect">
            <a:avLst/>
          </a:prstGeom>
          <a:ln>
            <a:noFill/>
          </a:ln>
          <a:noFill/>
        </p:spPr>
        <p:txBody>
          <a:bodyPr wrap="none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Фото: карточка товара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№ 13 · Realme C75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868680"/>
            <a:ext cx="6675120" cy="365760"/>
          </a:xfrm>
          <a:prstGeom prst="rect">
            <a:avLst/>
          </a:prstGeom>
          <a:ln>
            <a:noFill/>
          </a:ln>
          <a:noFill/>
        </p:spPr>
        <p:txBody>
          <a:bodyPr wrap="none" anchor="t"/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Ушли и прочие · год модели 2026 · экспонат 25 из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4114800" cy="4572000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937760" y="1325880"/>
            <a:ext cx="6766560" cy="2651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Память: 128/256 ГБ + microSD до 2 ТБ, ОЗУ 8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Экран: 6,72 ″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Батарея: 6000 мАч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Камера: 50 МП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Зарядка: 45 Вт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ОЗУ: 8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Цена: найден бесплатно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Цвет: Storm Black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4072319"/>
            <a:ext cx="6766560" cy="365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История экспоната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588079"/>
            <a:ext cx="6766560" cy="1156601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6,72" IPS (2400×1080), 90 Гц, стекло ArmorShell. 50 МП, фронт. 8 МП. Helio G92 Max. Android 14, realme UI 5.0. Батарея 6 000 мАч, 45 Вт. IP69. Экран отслаивается, разъёмы SIM повреждены. Заряд идёт. Найден до заказа Poco и BQ.</a:t>
            </a:r>
          </a:p>
        </p:txBody>
      </p:sp>
      <p:pic>
        <p:nvPicPr>
          <p:cNvPr id="9" name="Picture 8" descr="17102_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520" y="1964969"/>
            <a:ext cx="1653800" cy="3202382"/>
          </a:xfrm>
          <a:prstGeom prst="rect">
            <a:avLst/>
          </a:prstGeom>
        </p:spPr>
      </p:pic>
      <p:pic>
        <p:nvPicPr>
          <p:cNvPr id="10" name="Picture 9" descr="17101_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320" y="2134299"/>
            <a:ext cx="1653799" cy="286372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794680"/>
            <a:ext cx="4114800" cy="230000"/>
          </a:xfrm>
          <a:prstGeom prst="rect">
            <a:avLst/>
          </a:prstGeom>
          <a:ln>
            <a:noFill/>
          </a:ln>
          <a:noFill/>
        </p:spPr>
        <p:txBody>
          <a:bodyPr wrap="none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Фото автора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№ 17 · Xiaomi Pad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868680"/>
            <a:ext cx="6675120" cy="365760"/>
          </a:xfrm>
          <a:prstGeom prst="rect">
            <a:avLst/>
          </a:prstGeom>
          <a:ln>
            <a:noFill/>
          </a:ln>
          <a:noFill/>
        </p:spPr>
        <p:txBody>
          <a:bodyPr wrap="none" anchor="t"/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Ушли и прочие · год модели 2026 · экспонат 26 из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4114800" cy="4572000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937760" y="1325880"/>
            <a:ext cx="6766560" cy="2651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Память: 256 ГБ UFS 4.0, ОЗУ 12 ГБ LPDDR5X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Экран: 11,2 ″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Батарея: 8850 мАч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Зарядка: 45 Вт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ОЗУ: 12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Цена: ~36 000 ₽ (12/256, Blue)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Цвет: Blue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4072319"/>
            <a:ext cx="6766560" cy="365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История экспоната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588079"/>
            <a:ext cx="6766560" cy="1156601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11,2" IPS 3.2K (3200×2136), 144 Гц. Snapdragon 7+ Gen 3 (4 нм), Adreno 732, ~1,37 млн AnTuTu. Android 15, HyperOS 2. Батарея 8850 мАч, зарядка 45 Вт. Wi-Fi 6E, BT 5.2. 4 динамика, Dolby Atmos. Металлический корпус, ~500 г. Без SIM, без NFC. Преемник Pad M1: на ~55–60% быстрее в синтетике, +4 ГБ ОЗУ, UFS 4.0 вместо UFS 2.2, 144 Гц вместо 120 Гц. Целевые нагрузки: Geometry Dash с Geode (50–100 модов), Minecraft с шейдерами, GoreBox. Ожидает возврата средств за Pad M1 (на момент записи на WB оставалось 4 экз.). 28.09.2026: ЗАКРЫТО. «Условия не позволяют обеспечить им достойную мощность». Основная зарядка — от генератора, а не от городского электричества. Планшетная ветка свёрнута. Возврат к теме — 2030.</a:t>
            </a:r>
          </a:p>
        </p:txBody>
      </p:sp>
      <p:pic>
        <p:nvPicPr>
          <p:cNvPr id="9" name="Picture 8" descr="Screenshot_2026-10-16-20-09-47-559_com.wildberries.ru-edit_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984" y="1508760"/>
            <a:ext cx="3082671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794680"/>
            <a:ext cx="4114800" cy="23000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10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Фото: карточка товара</a:t>
            </a:r>
          </a:p>
        </p:txBody>
      </p:sp>
      <p:sp>
        <p:nvSpPr>
          <p:cNvPr id="11" name="TextBox 10"/>
          <p:cNvSpPr txBox="1"/>
          <p:nvPr/>
        </p:nvSpPr>
        <p:spPr>
          <a:xfrm rot="19680000">
            <a:off x="1250000" y="2850000"/>
            <a:ext cx="2500000" cy="750000"/>
          </a:xfrm>
          <a:prstGeom prst="rect">
            <a:avLst/>
          </a:prstGeom>
          <a:solidFill>
            <a:srgbClr val="0D0D0D"/>
          </a:solidFill>
          <a:ln w="19050" cmpd="dbl">
            <a:solidFill>
              <a:srgbClr val="E60000"/>
            </a:solidFill>
          </a:ln>
        </p:spPr>
        <p:txBody>
          <a:bodyPr wrap="none">
            <a:spAutoFit/>
          </a:bodyPr>
          <a:lstStyle/>
          <a:p>
            <a:pPr algn="ctr">
              <a:lnSpc>
                <a:spcPct val="140000"/>
              </a:lnSpc>
            </a:pPr>
            <a:r>
              <a:rPr sz="4000" b="1">
                <a:ln w="22225">
                  <a:solidFill>
                    <a:srgbClr val="FFC83D"/>
                  </a:solidFill>
                </a:ln>
                <a:solidFill>
                  <a:srgbClr val="E60000"/>
                </a:solidFill>
                <a:latin typeface="Georgia"/>
              </a:rPr>
              <a:t>ОТМЕНЁН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№ 19 · Redmi Note 13 5G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868680"/>
            <a:ext cx="6675120" cy="365760"/>
          </a:xfrm>
          <a:prstGeom prst="rect">
            <a:avLst/>
          </a:prstGeom>
          <a:ln>
            <a:noFill/>
          </a:ln>
          <a:noFill/>
        </p:spPr>
        <p:txBody>
          <a:bodyPr wrap="none" anchor="t"/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Ушли и прочие · год модели 2026 · экспонат 27 из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80160"/>
            <a:ext cx="4114800" cy="4572000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937760" y="1325880"/>
            <a:ext cx="6766560" cy="2651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Память: 256 ГБ UFS 2.2 + microSD до 1 ТБ, ОЗУ 12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Экран: 6,67 ″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Батарея: 5000 мАч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Камера: 108 МП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CPU: 2,4 ГГц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Зарядка: 33 Вт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ОЗУ: 12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Цена: 15 473 ₽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Цвет: Black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4072319"/>
            <a:ext cx="6766560" cy="365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История экспоната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588079"/>
            <a:ext cx="6766560" cy="1156601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6,67" AMOLED (1080×2400), 120 Гц, 1000 нит. 108 МП (OIS), фронт. 16 МП. MediaTek Dimensity 6080 (2×A76 2,4 ГГц + 6×A55 2,0 ГГц). Android 14, HyperOS 2. Батарея 5 000 мАч, 33 Вт. USB-C, NFC, стерео. Запасной рыцарь при Короле. Скачок эпох: A53→A76, eMMC→UFS 2.2, IPS→AMOLED, 16 МП→108 МП, 18 Вт→33 Вт, моно→стерео.</a:t>
            </a:r>
          </a:p>
        </p:txBody>
      </p:sp>
      <p:pic>
        <p:nvPicPr>
          <p:cNvPr id="9" name="Picture 8" descr="17120_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557" y="1508760"/>
            <a:ext cx="3065526" cy="411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5794680"/>
            <a:ext cx="4114800" cy="23000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sz="110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Фото: карточка товара</a:t>
            </a:r>
          </a:p>
        </p:txBody>
      </p:sp>
      <p:sp>
        <p:nvSpPr>
          <p:cNvPr id="11" name="TextBox 10"/>
          <p:cNvSpPr txBox="1"/>
          <p:nvPr/>
        </p:nvSpPr>
        <p:spPr>
          <a:xfrm rot="19680000">
            <a:off x="3108960" y="2377440"/>
            <a:ext cx="5486400" cy="1371600"/>
          </a:xfrm>
          <a:prstGeom prst="rect">
            <a:avLst/>
          </a:prstGeom>
          <a:solidFill>
            <a:srgbClr val="0D0D0D"/>
          </a:solidFill>
          <a:ln w="19050" cmpd="dbl">
            <a:solidFill>
              <a:srgbClr val="E60000"/>
            </a:solidFill>
          </a:ln>
        </p:spPr>
        <p:txBody>
          <a:bodyPr wrap="none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b="1" sz="3600">
                <a:ln w="22225">
                  <a:solidFill>
                    <a:srgbClr val="FFC83D"/>
                  </a:solidFill>
                </a:ln>
                <a:solidFill>
                  <a:srgbClr val="E60000"/>
                </a:solidFill>
                <a:latin typeface="Arial"/>
              </a:rPr>
              <a:t>ОТМЕНЁН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</a:p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20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№ 21 · TeXet TM-130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0" y="868680"/>
            <a:ext cx="6675120" cy="365760"/>
          </a:xfrm>
          <a:prstGeom prst="rect">
            <a:avLst/>
          </a:prstGeom>
          <a:ln>
            <a:noFill/>
          </a:ln>
          <a:noFill/>
        </p:spPr>
        <p:txBody>
          <a:bodyPr wrap="none" anchor="t"/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1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На службе · год модели 2019 · приход 07.2025 · экспонат 28 из 28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463626"/>
            <a:ext cx="4114800" cy="2205067"/>
          </a:xfrm>
          <a:prstGeom prst="rect">
            <a:avLst/>
          </a:prstGeom>
          <a:ln>
            <a:noFill/>
          </a:ln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40000"/>
              </a:lnSpc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937760" y="1325880"/>
            <a:ext cx="6766560" cy="2651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Память: 32+32 МБ + microSD до 32 ГБ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Экран: 1,77 ″ TFT-TN (128×160)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Батарея: 600 мАч (съёмная)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Камера: нет — режим тишины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Зарядка: Micro-USB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SIM: 2 (Dual Standby), 2G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Цена: 800 ₽ — Эльдорадо, Керчь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40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· Цвет: Black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4072319"/>
            <a:ext cx="6766560" cy="3657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600"/>
              </a:spcAft>
            </a:pPr>
            <a:r>
              <a:rPr sz="1400" b="1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История экспоната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4588079"/>
            <a:ext cx="6766560" cy="1156601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50" b="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1,77" TFT-TN (128×160), 2G. Без камеры и Bluetooth — «использование в условиях повышенной информационной безопасности». FM-радио, фонарик, диктофон. Батарея 600 мАч съёмная, заряд Micro-USB. 110×47×14 мм, 65 г. Статус: на службе (в другом городе). Приход июль 2025.</a:t>
            </a:r>
          </a:p>
        </p:txBody>
      </p:sp>
      <p:pic>
        <p:nvPicPr>
          <p:cNvPr id="9" name="Picture 8" descr="17102_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520" y="2463626"/>
            <a:ext cx="1653800" cy="2205067"/>
          </a:xfrm>
          <a:prstGeom prst="rect">
            <a:avLst/>
          </a:prstGeom>
        </p:spPr>
      </p:pic>
      <p:pic>
        <p:nvPicPr>
          <p:cNvPr id="10" name="Picture 9" descr="17101_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320" y="2463626"/>
            <a:ext cx="1653799" cy="220506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794680"/>
            <a:ext cx="4114800" cy="274320"/>
          </a:xfrm>
          <a:prstGeom prst="rect">
            <a:avLst/>
          </a:prstGeom>
          <a:ln>
            <a:noFill/>
          </a:ln>
          <a:noFill/>
        </p:spPr>
        <p:txBody>
          <a:bodyPr wrap="none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  <a:latin typeface="Arial"/>
              </a:rPr>
              <a:t>Фото автора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dfe6ee"/>
            </a:gs>
            <a:gs pos="50000">
              <a:srgbClr val="0f2f5c"/>
            </a:gs>
            <a:gs pos="100000">
              <a:srgbClr val="7a1a12"/>
            </a:gs>
          </a:gsLst>
          <a:lin scaled="0" ang="27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4023360"/>
          </a:xfrm>
          <a:prstGeom prst="rect">
            <a:avLst/>
          </a:prstGeom>
          <a:ln>
            <a:noFill/>
          </a:ln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</a:rPr>
              <a:t>ФОНД ЖИВЁТ. ПРОДОЛЖЕНИЕ СЛЕДУЕТ.</a:t>
            </a:r>
          </a:p>
          <a:p>
            <a:pPr>
              <a:lnSpc>
                <a:spcPct val="140000"/>
              </a:lnSpc>
            </a:pPr>
            <a:r>
              <a:rPr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</a:rPr>
              <a:t>Составлено: 17.10.2026 · Ильинка, Республика Крым</a:t>
            </a:r>
          </a:p>
          <a:p>
            <a:pPr>
              <a:lnSpc>
                <a:spcPct val="140000"/>
              </a:lnSpc>
            </a:pPr>
            <a:r>
              <a:rPr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</a:rPr>
              <a:t>Excel-эталон: v4.9.3 · SHA256 сверяется на листе «Исправления»</a:t>
            </a:r>
          </a:p>
          <a:p>
            <a:pPr>
              <a:lnSpc>
                <a:spcPct val="140000"/>
              </a:lnSpc>
            </a:pPr>
            <a:r>
              <a:rPr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</a:rPr>
              <a:t>Презентация: v25.9 · фотоэкспозиция: 27 из 28 · подписи-источники под снимками</a:t>
            </a:r>
          </a:p>
          <a:p>
            <a:pPr>
              <a:lnSpc>
                <a:spcPct val="140000"/>
              </a:lnSpc>
            </a:pPr>
            <a:r>
              <a:rPr>
                <a:ln w="22225">
                  <a:solidFill>
                    <a:srgbClr val="FFC83D"/>
                  </a:solidFill>
                </a:ln>
                <a:gradFill>
                  <a:gsLst>
                    <a:gs pos="0">
                      <a:srgbClr val="FFFFFF"/>
                    </a:gs>
                    <a:gs pos="50000">
                      <a:srgbClr val="9BE8FF"/>
                    </a:gs>
                    <a:gs pos="100000">
                      <a:srgbClr val="00C2FF"/>
                    </a:gs>
                  </a:gsLst>
                  <a:lin ang="0" scaled="0"/>
                </a:gradFill>
              </a:rPr>
              <a:t>Фото экспоната № 0a: Фото с Авито · № 0b: Яндекс Картинки · № 0c: Яндекс Картинки · № 1: Яндекс Картинки · № 6: Яндекс Картинки · № 8: Фото автора · № 12: Фото автора · № 14: Карточка товара · № 14.3: Фото автора · № 14A: Карточка товара · № 18: Фото автора · № 20: Фото автора · № 2: Яндекс Картинки · № 2b: Яндекс Картинки · № 2c: Яндекс Картинки · № 3: Яндекс Картинки · № 4: Яндекс Картинки · № 5: Яндекс Картинки · № 6b: Яндекс Картинки · № 7: Фото автора · № 9: Фото автора · № 10: карточка товара · № 11: карточка товара · № 13: Фото автора · № 17: карточка товара · № 19: карточка товара · № 21: Фото автора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